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3"/>
    <p:restoredTop sz="94610"/>
  </p:normalViewPr>
  <p:slideViewPr>
    <p:cSldViewPr snapToGrid="0" snapToObjects="1">
      <p:cViewPr>
        <p:scale>
          <a:sx n="231" d="100"/>
          <a:sy n="231" d="100"/>
        </p:scale>
        <p:origin x="152" y="-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kumar magandi" userId="85e0f8935a6fc415" providerId="LiveId" clId="{EF034FE4-CC66-5DF0-880A-A00B6B729AEB}"/>
    <pc:docChg chg="modSld">
      <pc:chgData name="Pavan kumar magandi" userId="85e0f8935a6fc415" providerId="LiveId" clId="{EF034FE4-CC66-5DF0-880A-A00B6B729AEB}" dt="2026-05-08T12:07:33.118" v="1" actId="1076"/>
      <pc:docMkLst>
        <pc:docMk/>
      </pc:docMkLst>
      <pc:sldChg chg="modSp mod">
        <pc:chgData name="Pavan kumar magandi" userId="85e0f8935a6fc415" providerId="LiveId" clId="{EF034FE4-CC66-5DF0-880A-A00B6B729AEB}" dt="2026-05-08T12:07:33.118" v="1" actId="1076"/>
        <pc:sldMkLst>
          <pc:docMk/>
          <pc:sldMk cId="0" sldId="265"/>
        </pc:sldMkLst>
        <pc:picChg chg="mod modCrop">
          <ac:chgData name="Pavan kumar magandi" userId="85e0f8935a6fc415" providerId="LiveId" clId="{EF034FE4-CC66-5DF0-880A-A00B6B729AEB}" dt="2026-05-08T12:07:33.118" v="1" actId="1076"/>
          <ac:picMkLst>
            <pc:docMk/>
            <pc:sldMk cId="0" sldId="265"/>
            <ac:picMk id="27" creationId="{238A6591-C54B-C793-898F-51B32808A8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738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2F6B">
              <a:alpha val="40000"/>
            </a:srgbClr>
          </a:solidFill>
          <a:ln w="12700">
            <a:solidFill>
              <a:srgbClr val="1A2F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1E40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0A5FA"/>
                </a:solidFill>
              </a:rPr>
              <a:t>BUSINESS INTELLIGENCE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Traders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E8"/>
                </a:solidFill>
              </a:rPr>
              <a:t>Power BI  ·  Excel  ·  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90C0"/>
                </a:solidFill>
              </a:rPr>
              <a:t>Prepared by: Pavan Kumar Magandi  |  MBA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BB5"/>
                </a:solidFill>
              </a:rPr>
              <a:t>pavanmagandi@gmail.com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Objective of the Power BI Report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The objective of this Power BI report is to create a visually appealing and user-friendly dashboard that communicates key performance metrics for Northwind Traders effectively.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The report aims to generate insights into customer behavior, sales patterns, and employee performance to aid decision-making processes. It covers sales analysis, customer segmentation, inventory trends, and employee performance — consolidating data from multiple tables for a comprehensive view of the company's operations.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The report empowers stakeholders to make data-driven decisions by offering valuable insights and facilitating data exploration through interactive visualizations and dynamic filters.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1A2F6B"/>
                </a:solidFill>
              </a:rPr>
              <a:t>Expected Impact: Revolutionize how Northwind Traders interacts with its data, enabling the company to remain competitive and drive its business forward in the wholesale market landscape.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Northwind Traders — A fictitious company importing &amp; exporting specialty foods worldwide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2529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Customer ID, company, contact, address, country, phone — 90 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42032" y="109728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22529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Order ID, customer/employee ID, dates, shipping info — 830 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18304" y="10972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18304" y="109728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122529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Order ID, product ID, unit price, quantity, discount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94576" y="10972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94576" y="109728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04304" y="122529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04304" y="1554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Product ID, name, supplier, category, price, stock levels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277977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Supplier ID, company, contact, address, country, phone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42032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42032" y="265176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51760" y="277977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51760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Employee ID, name, title, hire date, region — 9 employees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18304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18304" y="265176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277977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28032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Shipper ID, company name, phone — 3 shipping companies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94576" y="26517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94576" y="2651760"/>
            <a:ext cx="2011680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04304" y="2779776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04304" y="31089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Category ID, category name, description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A5FA"/>
                </a:solidFill>
              </a:rPr>
              <a:t>A structured 3-stage analytics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520440"/>
          </a:xfrm>
          <a:prstGeom prst="rect">
            <a:avLst/>
          </a:prstGeom>
          <a:solidFill>
            <a:srgbClr val="1A2F6B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77724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" y="17099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Data Extraction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Queried Northwind relational database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Joined multiple tables (Customers, Orders, Products, etc.)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Filtered, grouped and aggregated data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Exported clean datasets for 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651760" cy="3520440"/>
          </a:xfrm>
          <a:prstGeom prst="rect">
            <a:avLst/>
          </a:prstGeom>
          <a:solidFill>
            <a:srgbClr val="1A2F6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7772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29844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10128" y="17099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Data Cleaning &amp; EDA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Imported SQL-exported datasets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Handled missing values &amp; duplicates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Exploratory Data Analysis (EDA)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Pivot tables for preliminary insights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3520440"/>
          </a:xfrm>
          <a:prstGeom prst="rect">
            <a:avLst/>
          </a:prstGeom>
          <a:solidFill>
            <a:srgbClr val="1A2F6B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51760" cy="77724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129844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44768" y="1709928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Visualization &amp; Reporting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1488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6-page interactive report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Custom DAX measures &amp; KPIs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Dynamic filters &amp; slicers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8D8F8"/>
                </a:solidFill>
              </a:rPr>
              <a:t>Maps, charts, treemaps &amp; org charts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926080"/>
            <a:ext cx="9144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2926080"/>
            <a:ext cx="9144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Top-level KPIs across the entire Northwind Traders dataset  |  Period: Aug 1994 – May 1996</a:t>
            </a:r>
            <a:endParaRPr lang="en-US" sz="11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E7C851-44AA-8A24-F3B3-3A14A07319B8}"/>
              </a:ext>
            </a:extLst>
          </p:cNvPr>
          <p:cNvGrpSpPr>
            <a:grpSpLocks noChangeAspect="1"/>
          </p:cNvGrpSpPr>
          <p:nvPr/>
        </p:nvGrpSpPr>
        <p:grpSpPr>
          <a:xfrm>
            <a:off x="347472" y="1076169"/>
            <a:ext cx="1800000" cy="995570"/>
            <a:chOff x="347472" y="1143000"/>
            <a:chExt cx="2651760" cy="1371600"/>
          </a:xfrm>
        </p:grpSpPr>
        <p:sp>
          <p:nvSpPr>
            <p:cNvPr id="5" name="Shape 3"/>
            <p:cNvSpPr/>
            <p:nvPr/>
          </p:nvSpPr>
          <p:spPr>
            <a:xfrm>
              <a:off x="347472" y="1143000"/>
              <a:ext cx="265176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347472" y="1143000"/>
              <a:ext cx="2651760" cy="64008"/>
            </a:xfrm>
            <a:prstGeom prst="rect">
              <a:avLst/>
            </a:prstGeom>
            <a:solidFill>
              <a:srgbClr val="0D1B4B"/>
            </a:solidFill>
            <a:ln w="12700">
              <a:solidFill>
                <a:srgbClr val="0D1B4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38912" y="1325880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D1B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90</a:t>
              </a:r>
              <a:endParaRPr lang="en-US" sz="3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38912" y="20116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Total Customers</a:t>
              </a:r>
              <a:endParaRPr lang="en-US" sz="11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168796-8566-23A7-E258-E0A42ECC3EF7}"/>
              </a:ext>
            </a:extLst>
          </p:cNvPr>
          <p:cNvGrpSpPr>
            <a:grpSpLocks noChangeAspect="1"/>
          </p:cNvGrpSpPr>
          <p:nvPr/>
        </p:nvGrpSpPr>
        <p:grpSpPr>
          <a:xfrm>
            <a:off x="7322266" y="2212485"/>
            <a:ext cx="1800000" cy="1035112"/>
            <a:chOff x="3200400" y="1143000"/>
            <a:chExt cx="2651760" cy="1371600"/>
          </a:xfrm>
        </p:grpSpPr>
        <p:sp>
          <p:nvSpPr>
            <p:cNvPr id="9" name="Shape 7"/>
            <p:cNvSpPr/>
            <p:nvPr/>
          </p:nvSpPr>
          <p:spPr>
            <a:xfrm>
              <a:off x="3200400" y="1143000"/>
              <a:ext cx="265176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3200400" y="1143000"/>
              <a:ext cx="2651760" cy="64008"/>
            </a:xfrm>
            <a:prstGeom prst="rect">
              <a:avLst/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291840" y="1325880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E40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1.27M</a:t>
              </a:r>
              <a:endParaRPr lang="en-US" sz="3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91840" y="20116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Total Revenue (₹)</a:t>
              </a:r>
              <a:endParaRPr lang="en-US" sz="11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8F33E65-E8E5-A50C-C7AF-DC7FC4DF2D17}"/>
              </a:ext>
            </a:extLst>
          </p:cNvPr>
          <p:cNvGrpSpPr>
            <a:grpSpLocks noChangeAspect="1"/>
          </p:cNvGrpSpPr>
          <p:nvPr/>
        </p:nvGrpSpPr>
        <p:grpSpPr>
          <a:xfrm>
            <a:off x="7322268" y="1076169"/>
            <a:ext cx="1800000" cy="1035113"/>
            <a:chOff x="6053328" y="1143000"/>
            <a:chExt cx="2651760" cy="1371600"/>
          </a:xfrm>
        </p:grpSpPr>
        <p:sp>
          <p:nvSpPr>
            <p:cNvPr id="13" name="Shape 11"/>
            <p:cNvSpPr/>
            <p:nvPr/>
          </p:nvSpPr>
          <p:spPr>
            <a:xfrm>
              <a:off x="6053328" y="1143000"/>
              <a:ext cx="265176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/>
            <p:cNvSpPr/>
            <p:nvPr/>
          </p:nvSpPr>
          <p:spPr>
            <a:xfrm>
              <a:off x="6053328" y="1143000"/>
              <a:ext cx="2651760" cy="64008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6144768" y="1325880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0EA5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830</a:t>
              </a:r>
              <a:endParaRPr lang="en-US" sz="3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144768" y="20116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Total Orders</a:t>
              </a:r>
              <a:endParaRPr lang="en-US" sz="11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1027ED-B904-0B35-88A0-C01B26014CFF}"/>
              </a:ext>
            </a:extLst>
          </p:cNvPr>
          <p:cNvGrpSpPr>
            <a:grpSpLocks noChangeAspect="1"/>
          </p:cNvGrpSpPr>
          <p:nvPr/>
        </p:nvGrpSpPr>
        <p:grpSpPr>
          <a:xfrm>
            <a:off x="330378" y="2215810"/>
            <a:ext cx="1800000" cy="995570"/>
            <a:chOff x="347472" y="2743200"/>
            <a:chExt cx="2651760" cy="1371600"/>
          </a:xfrm>
        </p:grpSpPr>
        <p:sp>
          <p:nvSpPr>
            <p:cNvPr id="17" name="Shape 15"/>
            <p:cNvSpPr/>
            <p:nvPr/>
          </p:nvSpPr>
          <p:spPr>
            <a:xfrm>
              <a:off x="347472" y="2743200"/>
              <a:ext cx="265176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347472" y="2743200"/>
              <a:ext cx="2651760" cy="64008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438912" y="2926080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8.49</a:t>
              </a:r>
              <a:endParaRPr lang="en-US" sz="3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8912" y="36118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Avg. Shipping Days</a:t>
              </a:r>
              <a:endParaRPr lang="en-US" sz="11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A514A8-5538-6044-120F-1406DCB14C7A}"/>
              </a:ext>
            </a:extLst>
          </p:cNvPr>
          <p:cNvGrpSpPr>
            <a:grpSpLocks noChangeAspect="1"/>
          </p:cNvGrpSpPr>
          <p:nvPr/>
        </p:nvGrpSpPr>
        <p:grpSpPr>
          <a:xfrm>
            <a:off x="330378" y="3355452"/>
            <a:ext cx="1800000" cy="995570"/>
            <a:chOff x="3200400" y="2743200"/>
            <a:chExt cx="2651760" cy="1371600"/>
          </a:xfrm>
        </p:grpSpPr>
        <p:sp>
          <p:nvSpPr>
            <p:cNvPr id="21" name="Shape 19"/>
            <p:cNvSpPr/>
            <p:nvPr/>
          </p:nvSpPr>
          <p:spPr>
            <a:xfrm>
              <a:off x="3200400" y="2743200"/>
              <a:ext cx="265176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200400" y="2743200"/>
              <a:ext cx="2651760" cy="64008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3291840" y="2926080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37</a:t>
              </a:r>
              <a:endParaRPr lang="en-US" sz="3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291840" y="36118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Late Shipments</a:t>
              </a:r>
              <a:endParaRPr lang="en-US" sz="11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9D97356-B625-2B83-45B5-1199E809621A}"/>
              </a:ext>
            </a:extLst>
          </p:cNvPr>
          <p:cNvGrpSpPr>
            <a:grpSpLocks noChangeAspect="1"/>
          </p:cNvGrpSpPr>
          <p:nvPr/>
        </p:nvGrpSpPr>
        <p:grpSpPr>
          <a:xfrm>
            <a:off x="7322267" y="3348800"/>
            <a:ext cx="1800000" cy="1035113"/>
            <a:chOff x="6053328" y="2743200"/>
            <a:chExt cx="2651760" cy="1371600"/>
          </a:xfrm>
        </p:grpSpPr>
        <p:sp>
          <p:nvSpPr>
            <p:cNvPr id="25" name="Shape 23"/>
            <p:cNvSpPr/>
            <p:nvPr/>
          </p:nvSpPr>
          <p:spPr>
            <a:xfrm>
              <a:off x="6053328" y="2743200"/>
              <a:ext cx="2651760" cy="1371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6053328" y="2743200"/>
              <a:ext cx="2651760" cy="64008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6144768" y="2926080"/>
              <a:ext cx="246888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1.53K</a:t>
              </a:r>
              <a:endParaRPr lang="en-US" sz="3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144768" y="361188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Avg. Order Value ($)</a:t>
              </a:r>
              <a:endParaRPr lang="en-US" sz="1100" dirty="0"/>
            </a:p>
          </p:txBody>
        </p:sp>
      </p:grpSp>
      <p:sp>
        <p:nvSpPr>
          <p:cNvPr id="29" name="Shape 27"/>
          <p:cNvSpPr/>
          <p:nvPr/>
        </p:nvSpPr>
        <p:spPr>
          <a:xfrm>
            <a:off x="347472" y="4434840"/>
            <a:ext cx="850392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F6B"/>
                </a:solidFill>
              </a:rPr>
              <a:t>Report Pages:  Dashboard  ·  Customer Analysis  ·  Order Analysis  ·  Employee Analysis  ·  Product Analysis  ·  Supplier Analysis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35E64AF-1876-4F49-77D5-E41307CEA4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35" t="31592" r="17647" b="12268"/>
          <a:stretch>
            <a:fillRect/>
          </a:stretch>
        </p:blipFill>
        <p:spPr>
          <a:xfrm>
            <a:off x="2328836" y="1457804"/>
            <a:ext cx="4812065" cy="22081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03720" y="164592"/>
            <a:ext cx="777240" cy="594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94576" y="164592"/>
            <a:ext cx="777240" cy="594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85432" y="164592"/>
            <a:ext cx="777240" cy="594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1" y="887504"/>
            <a:ext cx="420893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39" y="872403"/>
            <a:ext cx="4023360" cy="39319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13716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</a:rPr>
              <a:t>✦  </a:t>
            </a:r>
            <a:r>
              <a:rPr lang="en-US" sz="1050" dirty="0">
                <a:solidFill>
                  <a:srgbClr val="1E293B"/>
                </a:solidFill>
              </a:rPr>
              <a:t>USA dominates with the highest customer share (~highest bubble on map), while Europe collectively accounts for ~40–50% across multiple countries.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0116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</a:rPr>
              <a:t>✦  </a:t>
            </a:r>
            <a:r>
              <a:rPr lang="en-US" sz="1050" dirty="0">
                <a:solidFill>
                  <a:srgbClr val="1E293B"/>
                </a:solidFill>
              </a:rPr>
              <a:t>London leads city-level revenue &amp; customer count, followed by México D.F. and São Paulo.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651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</a:rPr>
              <a:t>✦  </a:t>
            </a:r>
            <a:r>
              <a:rPr lang="en-US" sz="1050" dirty="0">
                <a:solidFill>
                  <a:srgbClr val="1E293B"/>
                </a:solidFill>
              </a:rPr>
              <a:t>Around 6–8 European countries show mid-level volumes, indicating distributed demand rather than a single dominant market.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2918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</a:rPr>
              <a:t>✦  </a:t>
            </a:r>
            <a:r>
              <a:rPr lang="en-US" sz="1050" dirty="0">
                <a:solidFill>
                  <a:srgbClr val="1E293B"/>
                </a:solidFill>
              </a:rPr>
              <a:t>South America &amp; parts of Asia contribute &lt;10–15% combined — strong growth potential.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39319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40AF"/>
                </a:solidFill>
              </a:rPr>
              <a:t>✦  </a:t>
            </a:r>
            <a:r>
              <a:rPr lang="en-US" sz="1050" dirty="0">
                <a:solidFill>
                  <a:srgbClr val="1E293B"/>
                </a:solidFill>
              </a:rPr>
              <a:t>Order YoY growth of 170% signals strong business momentum across all regions.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F6FA7F5-C51E-9498-98C4-F0C4C7A8E2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28" t="18614" r="17814" b="13202"/>
          <a:stretch>
            <a:fillRect/>
          </a:stretch>
        </p:blipFill>
        <p:spPr>
          <a:xfrm>
            <a:off x="347471" y="1776211"/>
            <a:ext cx="4208936" cy="21099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0574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830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13898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205740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91440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$1.53K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13898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Avg Order Value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914400"/>
            <a:ext cx="20574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91440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8.49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73168" y="13898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Avg Shipping Days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86016" y="914400"/>
            <a:ext cx="205740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86016" y="91440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86016" y="13898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Late Shipments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04509" y="182880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41669" y="19202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41669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Stable Growth Phase: Order volume shows a steady upward trend through 1994–1995, consistently staying above the baseline (~35–40 orders).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41669" y="28163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Sharp Volatility in 1996: A significant drop is observed in early 1996, followed by ~100% MoM recovery — indicating temporary disruption, not long-term decline.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41669" y="3300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Revenue Growth Alignment: Strong YoY growth (223%) and high revenue (₹5.9L in 1995) confirm increasing order volume is translating into business growth.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41669" y="3785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Beverages, Condiments &amp; Confections consistently contribute across all months, with peak activity in Apr–May.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41669" y="4270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Most orders fall in $1K–$2K bucket across all 3 shipping companies.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E7360D3-6D53-1185-057B-15E8DA9437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40" t="35497" r="34146" b="13412"/>
          <a:stretch>
            <a:fillRect/>
          </a:stretch>
        </p:blipFill>
        <p:spPr>
          <a:xfrm>
            <a:off x="347472" y="2121408"/>
            <a:ext cx="4446723" cy="24569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6517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Total Employees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9144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Managers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53328" y="914400"/>
            <a:ext cx="26517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53328" y="9144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32.56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53328" y="1389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Avg Tenure (yrs)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1874520"/>
            <a:ext cx="4114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4360" y="2423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Total Employees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03120" y="3063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Inside Sales Coord.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1874520"/>
            <a:ext cx="4206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Lean Organization: Only 9 employees — a small, tightly structured team.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Flat Hierarchy: Each role (Sales Manager, Inside Sales Coord., VP) has ~1 employee, reflecting minimal management layers.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Centralized Operations: Reporting chain shows UK/London concentration.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566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High Retention: Employees exhibit ~32–34 years tenure across roles — a stable, experienced workforce.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977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Age–Tenure Relationship: Positive trend between age at hire (~25–55) and tenure (~31–34 yrs), showing long-term retention.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389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London hosts the most employees (4), followed by Seattle and Kirkland.</a:t>
            </a:r>
            <a:endParaRPr lang="en-US" sz="11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628CDD2-8AB9-29BF-D7DE-AE2FC8524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04" t="33828" r="17877" b="12702"/>
          <a:stretch>
            <a:fillRect/>
          </a:stretch>
        </p:blipFill>
        <p:spPr>
          <a:xfrm>
            <a:off x="347472" y="2423159"/>
            <a:ext cx="4120221" cy="18059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833872" y="914400"/>
            <a:ext cx="29900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41732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✦  </a:t>
            </a:r>
            <a:r>
              <a:rPr lang="en-US" sz="1000" dirty="0">
                <a:solidFill>
                  <a:srgbClr val="1E293B"/>
                </a:solidFill>
              </a:rPr>
              <a:t>Camembert Pierrot leads all products with 1,577 units sold.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96596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✦  </a:t>
            </a:r>
            <a:r>
              <a:rPr lang="en-US" sz="1000" dirty="0">
                <a:solidFill>
                  <a:srgbClr val="1E293B"/>
                </a:solidFill>
              </a:rPr>
              <a:t>Top 3 products (Camembert, Raclette, Gorgonzola Telino) are all dairy/cheese products — high demand segment.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51460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✦  </a:t>
            </a:r>
            <a:r>
              <a:rPr lang="en-US" sz="1000" dirty="0">
                <a:solidFill>
                  <a:srgbClr val="1E293B"/>
                </a:solidFill>
              </a:rPr>
              <a:t>Beverages, Condiments &amp; Confections are top categories by quarterly revenue.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306324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✦  </a:t>
            </a:r>
            <a:r>
              <a:rPr lang="en-US" sz="1000" dirty="0">
                <a:solidFill>
                  <a:srgbClr val="1E293B"/>
                </a:solidFill>
              </a:rPr>
              <a:t>Pricing ranges widely: $2.50 (budget) to $263.50 (premium), targeting diverse customer segments.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61188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✦  </a:t>
            </a:r>
            <a:r>
              <a:rPr lang="en-US" sz="1000" dirty="0">
                <a:solidFill>
                  <a:srgbClr val="1E293B"/>
                </a:solidFill>
              </a:rPr>
              <a:t>74.05K total inventory value with 780 units currently on order.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416052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✦  </a:t>
            </a:r>
            <a:r>
              <a:rPr lang="en-US" sz="1000" dirty="0">
                <a:solidFill>
                  <a:srgbClr val="1E293B"/>
                </a:solidFill>
              </a:rPr>
              <a:t>Q1 generates the highest revenue; Q3 shows the lowest — seasonal demand patterns exist.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64DF41-CE48-AE2A-5800-848003666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41" t="22171" r="17694" b="13328"/>
          <a:stretch>
            <a:fillRect/>
          </a:stretch>
        </p:blipFill>
        <p:spPr>
          <a:xfrm>
            <a:off x="274320" y="1360627"/>
            <a:ext cx="5329124" cy="2820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057400" cy="7132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1335024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Supplier Countries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2057400" cy="7132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91440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$28.87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335024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Avg Supplier Price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73168" y="914400"/>
            <a:ext cx="205740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91440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74.05K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73168" y="1335024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Inventory Value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86016" y="914400"/>
            <a:ext cx="205740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86016" y="914400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86016" y="1335024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DDFF"/>
                </a:solidFill>
              </a:rPr>
              <a:t>Products / Supplier (avg)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32120" y="1828800"/>
            <a:ext cx="32918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1920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0" y="2331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Globally diversified: Suppliers span North America, Europe, South America &amp; Australia.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0" y="27706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USA (~4 suppliers) and multiple European countries form the core supply base.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32095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Wide pricing gap: $4.50 to $140.75, with most clustered in the $15–$40 mid-range.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0" y="364845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USA generates ~₹1.22L revenue (244 orders, 6,828 units sold) — strongest region.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0" y="40873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Australia contributes ~₹65.6K with 2,108 units — emerging market.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0" y="4526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Premium suppliers like Aux joyeux ecclésiastiques (France) indicate niche offerings.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5AC3AD4-6C95-A804-CEA8-99084962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59" t="34538" r="39652" b="12704"/>
          <a:stretch>
            <a:fillRect/>
          </a:stretch>
        </p:blipFill>
        <p:spPr>
          <a:xfrm>
            <a:off x="1202436" y="1828800"/>
            <a:ext cx="3291840" cy="20702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38A6591-C54B-C793-898F-51B32808A8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77" t="36664" r="17412" b="37950"/>
          <a:stretch>
            <a:fillRect/>
          </a:stretch>
        </p:blipFill>
        <p:spPr>
          <a:xfrm>
            <a:off x="457200" y="3956455"/>
            <a:ext cx="1664209" cy="11098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9A88693-5AA9-4213-E9F8-384280C107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177" t="61997" r="17412" b="12618"/>
          <a:stretch>
            <a:fillRect/>
          </a:stretch>
        </p:blipFill>
        <p:spPr>
          <a:xfrm>
            <a:off x="3660122" y="3956455"/>
            <a:ext cx="1664209" cy="11098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</a:rPr>
              <a:t>Consolidated findings across all five analytical dimensions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88920" cy="1645920"/>
          </a:xfrm>
          <a:prstGeom prst="rect">
            <a:avLst/>
          </a:prstGeom>
          <a:solidFill>
            <a:srgbClr val="1A2F6B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USA leads globally; London is top city. Europe (~6–8 countries) contributes 40–50% of total. 170% YoY orders growth signals expanding customer base.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82112" y="1188720"/>
            <a:ext cx="2788920" cy="1645920"/>
          </a:xfrm>
          <a:prstGeom prst="rect">
            <a:avLst/>
          </a:prstGeom>
          <a:solidFill>
            <a:srgbClr val="1A2F6B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9272" y="12801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Orders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9272" y="162763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830 total orders, $1.53K avg value. Stable 1994–1995 growth with a brief 1996 dip recovered via 100% MoM rebound. Apr–May peak months.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9904" y="1188720"/>
            <a:ext cx="2788920" cy="1645920"/>
          </a:xfrm>
          <a:prstGeom prst="rect">
            <a:avLst/>
          </a:prstGeom>
          <a:solidFill>
            <a:srgbClr val="1A2F6B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2801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Employees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27064" y="162763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9 employees, flat hierarchy, 32.5-yr avg tenure. Operations centralized in London (UK). Highly experienced and stable workforce.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2788920" cy="1645920"/>
          </a:xfrm>
          <a:prstGeom prst="rect">
            <a:avLst/>
          </a:prstGeom>
          <a:solidFill>
            <a:srgbClr val="1A2F6B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Products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1071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Camembert Pierrot is #1 product. Dairy/cheese dominates top sellers. Beverages &amp; Confections lead category revenue. Q1 is highest-revenue quarter.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82112" y="2971800"/>
            <a:ext cx="2788920" cy="1645920"/>
          </a:xfrm>
          <a:prstGeom prst="rect">
            <a:avLst/>
          </a:prstGeom>
          <a:solidFill>
            <a:srgbClr val="1A2F6B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9272" y="3063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Suppliers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9272" y="341071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29 countries, well-diversified. USA is #1 revenue region. Avg price $28.87. Premium niche and budget segments coexist across supplier portfolio.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2971800"/>
            <a:ext cx="2788920" cy="1645920"/>
          </a:xfrm>
          <a:prstGeom prst="rect">
            <a:avLst/>
          </a:prstGeom>
          <a:solidFill>
            <a:srgbClr val="1A2F6B"/>
          </a:solidFill>
          <a:ln w="127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27064" y="3063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Shipping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27064" y="3410712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</a:rPr>
              <a:t>Avg 9.44 shipping days. Ireland &amp; Belgium slowest (~13–15 days). USA &amp; Spain more efficient (~8–10 days). Speedy Express often the slowest carrier.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Data-driven actions to drive growth and efficiency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502920" cy="16916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Expand in Emerging Markets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600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South America &amp; Asia show low penetration (&lt;15%). Targeted campaigns in Brazil, Mexico, and Japan can capture growth.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5264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55264" y="1097280"/>
            <a:ext cx="502920" cy="1691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55264" y="1645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9624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Optimize Shipping Logistics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9624" y="1600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Ireland &amp; Belgium average 13–15 days. Partner with faster carriers or renegotiate SLAs in these regions to reduce late shipments.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502920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1645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57416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Double Down on Top Products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57416" y="16002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Invest in supply chain for dairy/cheese products (Camembert, Raclette). These top sellers drive volume and should maintain sufficient stock.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2907792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2907792"/>
            <a:ext cx="50292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4564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832" y="29992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Strengthen US Supplier 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" y="341071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USA generates the highest revenue. Building stronger partnerships with US suppliers will ensure pricing stability and supply security.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55264" y="2907792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5264" y="2907792"/>
            <a:ext cx="502920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55264" y="34564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49624" y="29992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Workforce Growth Planning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9624" y="341071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With only 9 employees managing 830+ orders, scaling the team — especially in sales roles — is critical for sustained growth.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2907792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63056" y="2907792"/>
            <a:ext cx="502920" cy="1691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63056" y="34564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57416" y="29992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Leverage Q1 Revenue Peak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57416" y="3410712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Q1 consistently outperforms Q3. Plan product launches, promotions, and inventory builds in advance to capitalize on Q1 demand.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2F6B">
              <a:alpha val="40000"/>
            </a:srgbClr>
          </a:solidFill>
          <a:ln w="12700">
            <a:solidFill>
              <a:srgbClr val="1A2F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E40AF">
              <a:alpha val="15000"/>
            </a:srgbClr>
          </a:solidFill>
          <a:ln w="12700">
            <a:solidFill>
              <a:srgbClr val="1E40A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3657600" cy="45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8"/>
                </a:solidFill>
              </a:rPr>
              <a:t>This Power BI report successfully transforms raw Northwind Traders data into actionable intelligence. By integrating customer, order, employee, product, and supplier dimensions, the dashboard provides 360° visibility into business performance.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60A5FA"/>
                </a:solidFill>
              </a:rPr>
              <a:t>  ◆  90 customers, $1.27M revenue, and 830 orders analysed across the full dataset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60A5FA"/>
                </a:solidFill>
              </a:rPr>
              <a:t>  ◆  Interactive filters enable drill-down by date, region, category, and shipper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60A5FA"/>
                </a:solidFill>
              </a:rPr>
              <a:t>  ◆  Delivers a data-first culture for Northwind Traders to remain competitive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rgbClr val="60A5FA"/>
                </a:solidFill>
              </a:rPr>
              <a:t>  ◆  Foundation for future ML/predictive analytics extensions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4434840"/>
            <a:ext cx="3657600" cy="36576"/>
          </a:xfrm>
          <a:prstGeom prst="rect">
            <a:avLst/>
          </a:prstGeom>
          <a:solidFill>
            <a:srgbClr val="60A5FA">
              <a:alpha val="50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BB5"/>
                </a:solidFill>
              </a:rPr>
              <a:t>Pavan Kumar Magandi  |  MBA  |  pavanmagandi@gmail.com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1511</Words>
  <Application>Microsoft Macintosh PowerPoint</Application>
  <PresentationFormat>On-screen Show (16:9)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Traders Power BI Report</dc:title>
  <dc:subject>PptxGenJS Presentation</dc:subject>
  <dc:creator>Pavan Kumar Magandi</dc:creator>
  <cp:lastModifiedBy>Pavan kumar magandi</cp:lastModifiedBy>
  <cp:revision>2</cp:revision>
  <dcterms:created xsi:type="dcterms:W3CDTF">2026-05-08T11:31:56Z</dcterms:created>
  <dcterms:modified xsi:type="dcterms:W3CDTF">2026-05-08T12:07:41Z</dcterms:modified>
</cp:coreProperties>
</file>